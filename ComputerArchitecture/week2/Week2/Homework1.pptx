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4"/>
  </p:sldMasterIdLst>
  <p:notesMasterIdLst>
    <p:notesMasterId r:id="rId14"/>
  </p:notesMasterIdLst>
  <p:sldIdLst>
    <p:sldId id="289" r:id="rId5"/>
    <p:sldId id="341" r:id="rId6"/>
    <p:sldId id="347" r:id="rId7"/>
    <p:sldId id="344" r:id="rId8"/>
    <p:sldId id="348" r:id="rId9"/>
    <p:sldId id="345" r:id="rId10"/>
    <p:sldId id="349" r:id="rId11"/>
    <p:sldId id="346" r:id="rId12"/>
    <p:sldId id="350" r:id="rId13"/>
  </p:sldIdLst>
  <p:sldSz cx="9144000" cy="5143500" type="screen16x9"/>
  <p:notesSz cx="6858000" cy="9144000"/>
  <p:embeddedFontLst>
    <p:embeddedFont>
      <p:font typeface="Abadi Extra Light" panose="020B0204020104020204" pitchFamily="34" charset="0"/>
      <p:regular r:id="rId15"/>
    </p:embeddedFont>
    <p:embeddedFont>
      <p:font typeface="Cambria" panose="02040503050406030204" pitchFamily="18" charset="0"/>
      <p:regular r:id="rId16"/>
      <p:bold r:id="rId17"/>
      <p:italic r:id="rId18"/>
      <p:boldItalic r:id="rId19"/>
    </p:embeddedFont>
    <p:embeddedFont>
      <p:font typeface="Figtree Black" panose="020B0604020202020204" charset="0"/>
      <p:bold r:id="rId20"/>
      <p:boldItalic r:id="rId21"/>
    </p:embeddedFont>
    <p:embeddedFont>
      <p:font typeface="Hanken Grotesk" panose="020B060402020202020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B4C7592-D305-44BB-90C8-F4C2E07CEB7A}">
  <a:tblStyle styleId="{DB4C7592-D305-44BB-90C8-F4C2E07CEB7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836" y="7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7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10.fntdata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font" Target="fonts/font5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33f6155f6d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33f6155f6d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6273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8240650" y="420432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6" name="Google Shape;46;p6"/>
          <p:cNvGrpSpPr/>
          <p:nvPr/>
        </p:nvGrpSpPr>
        <p:grpSpPr>
          <a:xfrm>
            <a:off x="232200" y="-49400"/>
            <a:ext cx="8679000" cy="5250800"/>
            <a:chOff x="232200" y="-49400"/>
            <a:chExt cx="8679000" cy="5250800"/>
          </a:xfrm>
        </p:grpSpPr>
        <p:grpSp>
          <p:nvGrpSpPr>
            <p:cNvPr id="47" name="Google Shape;47;p6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48" name="Google Shape;48;p6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9" name="Google Shape;49;p6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" name="Google Shape;50;p6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1" name="Google Shape;51;p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8141975" y="-886575"/>
            <a:ext cx="1861500" cy="18615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232200" y="232800"/>
            <a:ext cx="9045000" cy="49755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400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58" r:id="rId2"/>
    <p:sldLayoutId id="2147483675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3"/>
          <p:cNvSpPr txBox="1">
            <a:spLocks/>
          </p:cNvSpPr>
          <p:nvPr/>
        </p:nvSpPr>
        <p:spPr>
          <a:xfrm>
            <a:off x="1623300" y="1524816"/>
            <a:ext cx="5897400" cy="13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 b="0" i="0" u="none" strike="noStrike" cap="none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pPr algn="ctr"/>
            <a:r>
              <a:rPr lang="en-US" sz="4000" dirty="0"/>
              <a:t>Homework 1</a:t>
            </a:r>
          </a:p>
        </p:txBody>
      </p:sp>
      <p:pic>
        <p:nvPicPr>
          <p:cNvPr id="4" name="Picture 10">
            <a:extLst>
              <a:ext uri="{FF2B5EF4-FFF2-40B4-BE49-F238E27FC236}">
                <a16:creationId xmlns:a16="http://schemas.microsoft.com/office/drawing/2014/main" id="{A4033CD5-1ED5-FC83-0877-9C425BE00B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62" y="171898"/>
            <a:ext cx="2653348" cy="75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73180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>
            <a:extLst>
              <a:ext uri="{FF2B5EF4-FFF2-40B4-BE49-F238E27FC236}">
                <a16:creationId xmlns:a16="http://schemas.microsoft.com/office/drawing/2014/main" id="{9E11D853-6B41-D1B6-435E-AD60EAA3E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62" y="171898"/>
            <a:ext cx="2653348" cy="75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EB0FC2-6EBF-EB49-AEDD-6DDCDF56EAB4}"/>
              </a:ext>
            </a:extLst>
          </p:cNvPr>
          <p:cNvSpPr txBox="1"/>
          <p:nvPr/>
        </p:nvSpPr>
        <p:spPr>
          <a:xfrm>
            <a:off x="886230" y="791337"/>
            <a:ext cx="7371540" cy="760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chemeClr val="dk1"/>
                </a:solidFill>
                <a:latin typeface="Abadi Extra Light" panose="020B0204020104020204" pitchFamily="34" charset="0"/>
                <a:cs typeface="Times New Roman" panose="02020603050405020304" pitchFamily="18" charset="0"/>
                <a:sym typeface="Figtree Black"/>
              </a:rPr>
              <a:t>1. Add three 8-bit numbers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6817C2-8757-6B0E-2F73-8CC878F9CE2F}"/>
              </a:ext>
            </a:extLst>
          </p:cNvPr>
          <p:cNvSpPr txBox="1"/>
          <p:nvPr/>
        </p:nvSpPr>
        <p:spPr>
          <a:xfrm>
            <a:off x="1088136" y="1730991"/>
            <a:ext cx="3793247" cy="166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0" i="0" u="none" strike="noStrike" baseline="0" dirty="0">
                <a:latin typeface="Cambria" panose="02040503050406030204" pitchFamily="18" charset="0"/>
              </a:rPr>
              <a:t>Statement: Add the contents of three memory locations 4000H, 4001H, and data in memory location 4002H</a:t>
            </a:r>
            <a:r>
              <a:rPr lang="en-US" dirty="0">
                <a:latin typeface="Cambria" panose="02040503050406030204" pitchFamily="18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</a:rPr>
              <a:t>Store result in location 4005H (low byte) and 4006H (high byte).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C69CEB-DCFC-82DE-6AFE-71DA7DCA4FA4}"/>
              </a:ext>
            </a:extLst>
          </p:cNvPr>
          <p:cNvSpPr txBox="1"/>
          <p:nvPr/>
        </p:nvSpPr>
        <p:spPr>
          <a:xfrm>
            <a:off x="5092796" y="1668820"/>
            <a:ext cx="3164974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Example problem</a:t>
            </a:r>
            <a:endParaRPr lang="en-US" i="0" u="none" strike="noStrike" dirty="0">
              <a:solidFill>
                <a:schemeClr val="tx1"/>
              </a:solidFill>
              <a:effectLst/>
              <a:latin typeface="Cambria" panose="02040503050406030204" pitchFamily="18" charset="0"/>
            </a:endParaRP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i="0" u="none" strike="noStrike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4000H = 80H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4001H = 7AH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i="0" u="none" strike="noStrike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4002H = 0FH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Result 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4005H = 09H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4006H = 01H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43883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34A476F-FA48-CE3D-F4D3-4F8237EBF1F9}"/>
              </a:ext>
            </a:extLst>
          </p:cNvPr>
          <p:cNvSpPr txBox="1"/>
          <p:nvPr/>
        </p:nvSpPr>
        <p:spPr>
          <a:xfrm>
            <a:off x="1320800" y="731520"/>
            <a:ext cx="234357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LDA 4000</a:t>
            </a:r>
          </a:p>
          <a:p>
            <a:r>
              <a:rPr lang="pt-BR" dirty="0"/>
              <a:t>MOV B, A</a:t>
            </a:r>
          </a:p>
          <a:p>
            <a:r>
              <a:rPr lang="pt-BR" dirty="0"/>
              <a:t>LDA 4001</a:t>
            </a:r>
          </a:p>
          <a:p>
            <a:r>
              <a:rPr lang="pt-BR" dirty="0"/>
              <a:t>MOV C, A</a:t>
            </a:r>
          </a:p>
          <a:p>
            <a:r>
              <a:rPr lang="pt-BR" dirty="0"/>
              <a:t>LDA 4002</a:t>
            </a:r>
          </a:p>
          <a:p>
            <a:r>
              <a:rPr lang="pt-BR" dirty="0"/>
              <a:t>ADD C</a:t>
            </a:r>
          </a:p>
          <a:p>
            <a:r>
              <a:rPr lang="pt-BR" dirty="0"/>
              <a:t>ADD B</a:t>
            </a:r>
          </a:p>
          <a:p>
            <a:r>
              <a:rPr lang="pt-BR" dirty="0"/>
              <a:t>MOV L, A</a:t>
            </a:r>
          </a:p>
          <a:p>
            <a:r>
              <a:rPr lang="pt-BR" dirty="0"/>
              <a:t>MVI A, 00</a:t>
            </a:r>
          </a:p>
          <a:p>
            <a:r>
              <a:rPr lang="pt-BR" dirty="0"/>
              <a:t>ADC A</a:t>
            </a:r>
          </a:p>
          <a:p>
            <a:r>
              <a:rPr lang="pt-BR" dirty="0"/>
              <a:t>MOV H, A</a:t>
            </a:r>
          </a:p>
          <a:p>
            <a:r>
              <a:rPr lang="pt-BR" dirty="0"/>
              <a:t>SHLD 4005</a:t>
            </a:r>
          </a:p>
          <a:p>
            <a:endParaRPr lang="pt-BR" dirty="0"/>
          </a:p>
          <a:p>
            <a:r>
              <a:rPr lang="pt-BR" dirty="0"/>
              <a:t>HLT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1210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68727-A5B2-A0F0-2741-FA6AED756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>
            <a:extLst>
              <a:ext uri="{FF2B5EF4-FFF2-40B4-BE49-F238E27FC236}">
                <a16:creationId xmlns:a16="http://schemas.microsoft.com/office/drawing/2014/main" id="{5962CED7-73C7-FDEE-FED9-D3C06758D9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62" y="171898"/>
            <a:ext cx="2653348" cy="75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7F59FEC-973C-A784-72FA-5FC0D2D2F7C4}"/>
              </a:ext>
            </a:extLst>
          </p:cNvPr>
          <p:cNvSpPr txBox="1"/>
          <p:nvPr/>
        </p:nvSpPr>
        <p:spPr>
          <a:xfrm>
            <a:off x="886230" y="791337"/>
            <a:ext cx="73715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chemeClr val="dk1"/>
                </a:solidFill>
                <a:latin typeface="Abadi Extra Light" panose="020B0204020104020204" pitchFamily="34" charset="0"/>
                <a:cs typeface="Times New Roman" panose="02020603050405020304" pitchFamily="18" charset="0"/>
                <a:sym typeface="Figtree Black"/>
              </a:rPr>
              <a:t>2. Add two 8-bit number and subtract one 8-bit number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ADED4D-CF69-095E-314A-83812DF8A5A4}"/>
              </a:ext>
            </a:extLst>
          </p:cNvPr>
          <p:cNvSpPr txBox="1"/>
          <p:nvPr/>
        </p:nvSpPr>
        <p:spPr>
          <a:xfrm>
            <a:off x="1092890" y="1825453"/>
            <a:ext cx="3793247" cy="1668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b="0" i="0" u="none" strike="noStrike" baseline="0" dirty="0">
                <a:latin typeface="Cambria" panose="02040503050406030204" pitchFamily="18" charset="0"/>
              </a:rPr>
              <a:t>Statement: Add the contents of three memory locations 4000H, 4001H, and </a:t>
            </a:r>
            <a:r>
              <a:rPr lang="en-US" b="1" dirty="0">
                <a:solidFill>
                  <a:schemeClr val="dk1"/>
                </a:solidFill>
                <a:latin typeface="Abadi Extra Light" panose="020B0204020104020204" pitchFamily="34" charset="0"/>
                <a:cs typeface="Times New Roman" panose="02020603050405020304" pitchFamily="18" charset="0"/>
                <a:sym typeface="Figtree Black"/>
              </a:rPr>
              <a:t>subtract</a:t>
            </a:r>
            <a:r>
              <a:rPr lang="en-US" b="0" i="0" u="none" strike="noStrike" baseline="0" dirty="0">
                <a:latin typeface="Cambria" panose="02040503050406030204" pitchFamily="18" charset="0"/>
              </a:rPr>
              <a:t> data in memory location 4002H</a:t>
            </a:r>
            <a:r>
              <a:rPr lang="en-US" dirty="0">
                <a:latin typeface="Cambria" panose="02040503050406030204" pitchFamily="18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</a:rPr>
              <a:t>Store result in location 4005H (low byte) and 4006H (high byte).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2148E6-9E0D-B723-F1F1-E835B6225180}"/>
              </a:ext>
            </a:extLst>
          </p:cNvPr>
          <p:cNvSpPr txBox="1"/>
          <p:nvPr/>
        </p:nvSpPr>
        <p:spPr>
          <a:xfrm>
            <a:off x="5092796" y="1868555"/>
            <a:ext cx="3164974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Example problem</a:t>
            </a:r>
            <a:endParaRPr lang="en-US" i="0" u="none" strike="noStrike" dirty="0">
              <a:solidFill>
                <a:schemeClr val="tx1"/>
              </a:solidFill>
              <a:effectLst/>
              <a:latin typeface="Cambria" panose="02040503050406030204" pitchFamily="18" charset="0"/>
            </a:endParaRP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i="0" u="none" strike="noStrike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4000H = F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A</a:t>
            </a:r>
            <a:r>
              <a:rPr lang="en-US" i="0" u="none" strike="noStrike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4001H = DAH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i="0" u="none" strike="noStrike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4002H = 0FH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Result 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4005H = C5H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4006H = 01H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9912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40532D9-5EA8-3D7C-7AC1-ABC3F8E9D27C}"/>
              </a:ext>
            </a:extLst>
          </p:cNvPr>
          <p:cNvSpPr txBox="1"/>
          <p:nvPr/>
        </p:nvSpPr>
        <p:spPr>
          <a:xfrm>
            <a:off x="904875" y="619125"/>
            <a:ext cx="198120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LDA 4000</a:t>
            </a:r>
          </a:p>
          <a:p>
            <a:r>
              <a:rPr lang="pt-BR" dirty="0"/>
              <a:t>MOV B, A</a:t>
            </a:r>
          </a:p>
          <a:p>
            <a:r>
              <a:rPr lang="pt-BR" dirty="0"/>
              <a:t>LDA 4001</a:t>
            </a:r>
          </a:p>
          <a:p>
            <a:r>
              <a:rPr lang="pt-BR" dirty="0"/>
              <a:t>ADD B</a:t>
            </a:r>
          </a:p>
          <a:p>
            <a:endParaRPr lang="pt-BR" dirty="0"/>
          </a:p>
          <a:p>
            <a:r>
              <a:rPr lang="pt-BR" dirty="0"/>
              <a:t>MOV L, A</a:t>
            </a:r>
          </a:p>
          <a:p>
            <a:r>
              <a:rPr lang="pt-BR" dirty="0"/>
              <a:t>MVI A, 00</a:t>
            </a:r>
          </a:p>
          <a:p>
            <a:r>
              <a:rPr lang="pt-BR" dirty="0"/>
              <a:t>ADC A</a:t>
            </a:r>
          </a:p>
          <a:p>
            <a:r>
              <a:rPr lang="pt-BR" dirty="0"/>
              <a:t>MOV H, A</a:t>
            </a:r>
          </a:p>
          <a:p>
            <a:endParaRPr lang="pt-BR" dirty="0"/>
          </a:p>
          <a:p>
            <a:r>
              <a:rPr lang="pt-BR" dirty="0"/>
              <a:t>LDA 4002</a:t>
            </a:r>
          </a:p>
          <a:p>
            <a:r>
              <a:rPr lang="pt-BR" dirty="0"/>
              <a:t>MOV B, A</a:t>
            </a:r>
          </a:p>
          <a:p>
            <a:r>
              <a:rPr lang="pt-BR" dirty="0"/>
              <a:t>MOV A, L</a:t>
            </a:r>
          </a:p>
          <a:p>
            <a:r>
              <a:rPr lang="pt-BR" dirty="0"/>
              <a:t>SUB B</a:t>
            </a:r>
          </a:p>
          <a:p>
            <a:r>
              <a:rPr lang="pt-BR" dirty="0"/>
              <a:t>MOV L, A</a:t>
            </a:r>
          </a:p>
          <a:p>
            <a:r>
              <a:rPr lang="pt-BR" dirty="0"/>
              <a:t>SHLD 4005</a:t>
            </a:r>
          </a:p>
          <a:p>
            <a:endParaRPr lang="pt-BR" dirty="0"/>
          </a:p>
          <a:p>
            <a:r>
              <a:rPr lang="pt-BR" dirty="0"/>
              <a:t>HLT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83503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E112D-E7E1-A4FB-19C7-16E5A7D7F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>
            <a:extLst>
              <a:ext uri="{FF2B5EF4-FFF2-40B4-BE49-F238E27FC236}">
                <a16:creationId xmlns:a16="http://schemas.microsoft.com/office/drawing/2014/main" id="{F5B03AD9-677D-D313-2B0E-388A9C7F46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62" y="171898"/>
            <a:ext cx="2653348" cy="75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C9B41C6-C388-9531-D647-B42AE090F28A}"/>
              </a:ext>
            </a:extLst>
          </p:cNvPr>
          <p:cNvSpPr txBox="1"/>
          <p:nvPr/>
        </p:nvSpPr>
        <p:spPr>
          <a:xfrm>
            <a:off x="886230" y="791337"/>
            <a:ext cx="73715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chemeClr val="dk1"/>
                </a:solidFill>
                <a:latin typeface="Abadi Extra Light" panose="020B0204020104020204" pitchFamily="34" charset="0"/>
                <a:cs typeface="Times New Roman" panose="02020603050405020304" pitchFamily="18" charset="0"/>
                <a:sym typeface="Figtree Black"/>
              </a:rPr>
              <a:t>3. Add three 16-bit number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F5D3E3-1CC0-AB37-0AA3-2822542117F2}"/>
              </a:ext>
            </a:extLst>
          </p:cNvPr>
          <p:cNvSpPr txBox="1"/>
          <p:nvPr/>
        </p:nvSpPr>
        <p:spPr>
          <a:xfrm>
            <a:off x="778753" y="1544888"/>
            <a:ext cx="3793247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</a:rPr>
              <a:t>Statement: Add the 16-bit number in memory locations 4000H and 4001H to the 16-bit number in memory locations 4002H and 4003H and 16-bit number in memory location 4004H and 4005H.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</a:rPr>
              <a:t>Store result in location 4008H (low byte) and 4009H (high byte).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663090-BCAF-7429-ED81-B4F418C0F6AD}"/>
              </a:ext>
            </a:extLst>
          </p:cNvPr>
          <p:cNvSpPr txBox="1"/>
          <p:nvPr/>
        </p:nvSpPr>
        <p:spPr>
          <a:xfrm>
            <a:off x="4886541" y="1476669"/>
            <a:ext cx="3164974" cy="328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Example problem</a:t>
            </a:r>
            <a:endParaRPr lang="en-US" i="0" u="none" strike="noStrike" dirty="0">
              <a:solidFill>
                <a:schemeClr val="tx1"/>
              </a:solidFill>
              <a:effectLst/>
              <a:latin typeface="Cambria" panose="02040503050406030204" pitchFamily="18" charset="0"/>
            </a:endParaRP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i="0" u="none" strike="noStrike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4000H = 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55</a:t>
            </a:r>
            <a:r>
              <a:rPr lang="en-US" i="0" u="none" strike="noStrike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4001H = 12H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i="0" u="none" strike="noStrike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4002H = 33H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4003H = 22H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4005H = 44H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4006H = 11H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Result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4008H = CCH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4009H = 45H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9572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7721EE-023C-E32A-92C7-901921463C4A}"/>
              </a:ext>
            </a:extLst>
          </p:cNvPr>
          <p:cNvSpPr txBox="1"/>
          <p:nvPr/>
        </p:nvSpPr>
        <p:spPr>
          <a:xfrm>
            <a:off x="1171575" y="628650"/>
            <a:ext cx="1905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LHLD 4000</a:t>
            </a:r>
          </a:p>
          <a:p>
            <a:r>
              <a:rPr lang="en-GB" dirty="0"/>
              <a:t>XCHG</a:t>
            </a:r>
          </a:p>
          <a:p>
            <a:r>
              <a:rPr lang="en-GB" dirty="0"/>
              <a:t>LHLD 4002</a:t>
            </a:r>
          </a:p>
          <a:p>
            <a:r>
              <a:rPr lang="en-GB" dirty="0"/>
              <a:t>DAD D</a:t>
            </a:r>
          </a:p>
          <a:p>
            <a:r>
              <a:rPr lang="en-GB" dirty="0"/>
              <a:t>XCHG</a:t>
            </a:r>
          </a:p>
          <a:p>
            <a:r>
              <a:rPr lang="en-GB" dirty="0"/>
              <a:t>LHLD 4004</a:t>
            </a:r>
          </a:p>
          <a:p>
            <a:r>
              <a:rPr lang="en-GB" dirty="0"/>
              <a:t>DAD D</a:t>
            </a:r>
          </a:p>
          <a:p>
            <a:r>
              <a:rPr lang="en-GB" dirty="0"/>
              <a:t>SHLD 4008</a:t>
            </a:r>
          </a:p>
          <a:p>
            <a:endParaRPr lang="en-GB" dirty="0"/>
          </a:p>
          <a:p>
            <a:r>
              <a:rPr lang="en-GB" dirty="0"/>
              <a:t>HLT</a:t>
            </a:r>
          </a:p>
        </p:txBody>
      </p:sp>
    </p:spTree>
    <p:extLst>
      <p:ext uri="{BB962C8B-B14F-4D97-AF65-F5344CB8AC3E}">
        <p14:creationId xmlns:p14="http://schemas.microsoft.com/office/powerpoint/2010/main" val="3892880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37B1D-4C14-7F06-6AFF-D546343CC1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>
            <a:extLst>
              <a:ext uri="{FF2B5EF4-FFF2-40B4-BE49-F238E27FC236}">
                <a16:creationId xmlns:a16="http://schemas.microsoft.com/office/drawing/2014/main" id="{97004A71-CF6B-36AC-9721-D8E4253C1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262" y="171898"/>
            <a:ext cx="2653348" cy="753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E5619F2-6989-6E9A-0AB3-D24F9F0E4A6D}"/>
              </a:ext>
            </a:extLst>
          </p:cNvPr>
          <p:cNvSpPr txBox="1"/>
          <p:nvPr/>
        </p:nvSpPr>
        <p:spPr>
          <a:xfrm>
            <a:off x="886230" y="681334"/>
            <a:ext cx="737154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en-US" sz="3200" b="1" dirty="0">
                <a:solidFill>
                  <a:schemeClr val="dk1"/>
                </a:solidFill>
                <a:latin typeface="Abadi Extra Light" panose="020B0204020104020204" pitchFamily="34" charset="0"/>
                <a:cs typeface="Times New Roman" panose="02020603050405020304" pitchFamily="18" charset="0"/>
                <a:sym typeface="Figtree Black"/>
              </a:rPr>
              <a:t>4. Add two 16-bit number and subtract one 16-bit number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4B90E2-E844-1015-E781-4EFD31C5AE4A}"/>
              </a:ext>
            </a:extLst>
          </p:cNvPr>
          <p:cNvSpPr txBox="1"/>
          <p:nvPr/>
        </p:nvSpPr>
        <p:spPr>
          <a:xfrm>
            <a:off x="886230" y="1758552"/>
            <a:ext cx="3793247" cy="2314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</a:rPr>
              <a:t>Statement: Add the 16-bit number in memory locations 4000H and 4001H to the 16-bit number in memory locations 4002H and 4003H and subtract 16-bit number in memory location 4004H and 4005H.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Cambria" panose="02040503050406030204" pitchFamily="18" charset="0"/>
              </a:rPr>
              <a:t>Store result in location 4008H (low byte) and 4009H (high byte).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4A3008-3FBF-63A2-F898-64DC56DD401A}"/>
              </a:ext>
            </a:extLst>
          </p:cNvPr>
          <p:cNvSpPr txBox="1"/>
          <p:nvPr/>
        </p:nvSpPr>
        <p:spPr>
          <a:xfrm>
            <a:off x="4941743" y="1689800"/>
            <a:ext cx="3164974" cy="3284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Example problem</a:t>
            </a:r>
            <a:endParaRPr lang="en-US" i="0" u="none" strike="noStrike" dirty="0">
              <a:solidFill>
                <a:schemeClr val="tx1"/>
              </a:solidFill>
              <a:effectLst/>
              <a:latin typeface="Cambria" panose="02040503050406030204" pitchFamily="18" charset="0"/>
            </a:endParaRP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i="0" u="none" strike="noStrike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4000H = 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55</a:t>
            </a:r>
            <a:r>
              <a:rPr lang="en-US" i="0" u="none" strike="noStrike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4001H = 12H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i="0" u="none" strike="noStrike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4002H = </a:t>
            </a: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77</a:t>
            </a:r>
            <a:r>
              <a:rPr lang="en-US" i="0" u="none" strike="noStrike" dirty="0">
                <a:solidFill>
                  <a:schemeClr val="tx1"/>
                </a:solidFill>
                <a:effectLst/>
                <a:latin typeface="Cambria" panose="02040503050406030204" pitchFamily="18" charset="0"/>
              </a:rPr>
              <a:t>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4003H = 55H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4005H = ACH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4006H = 45H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Result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4008H = 20H</a:t>
            </a:r>
          </a:p>
          <a:p>
            <a:pPr marL="285750" lvl="2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dirty="0">
                <a:solidFill>
                  <a:schemeClr val="tx1"/>
                </a:solidFill>
                <a:latin typeface="Cambria" panose="02040503050406030204" pitchFamily="18" charset="0"/>
              </a:rPr>
              <a:t>4009H = 22H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5584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8B7E393-4432-5B86-31CF-172BE1A815B1}"/>
              </a:ext>
            </a:extLst>
          </p:cNvPr>
          <p:cNvSpPr txBox="1"/>
          <p:nvPr/>
        </p:nvSpPr>
        <p:spPr>
          <a:xfrm>
            <a:off x="900854" y="507917"/>
            <a:ext cx="260096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LHLD 4000</a:t>
            </a:r>
          </a:p>
          <a:p>
            <a:r>
              <a:rPr lang="pt-BR" dirty="0"/>
              <a:t>XCHG</a:t>
            </a:r>
          </a:p>
          <a:p>
            <a:r>
              <a:rPr lang="pt-BR" dirty="0"/>
              <a:t>LHLD 4002</a:t>
            </a:r>
          </a:p>
          <a:p>
            <a:r>
              <a:rPr lang="pt-BR" dirty="0"/>
              <a:t>DAD D</a:t>
            </a:r>
          </a:p>
          <a:p>
            <a:r>
              <a:rPr lang="pt-BR" dirty="0"/>
              <a:t>XCHG</a:t>
            </a:r>
          </a:p>
          <a:p>
            <a:r>
              <a:rPr lang="pt-BR" dirty="0"/>
              <a:t>LHLD 4004</a:t>
            </a:r>
          </a:p>
          <a:p>
            <a:r>
              <a:rPr lang="pt-BR" dirty="0"/>
              <a:t>MOV A, E</a:t>
            </a:r>
          </a:p>
          <a:p>
            <a:r>
              <a:rPr lang="pt-BR" dirty="0"/>
              <a:t>SUB L</a:t>
            </a:r>
          </a:p>
          <a:p>
            <a:r>
              <a:rPr lang="pt-BR" dirty="0"/>
              <a:t>MOV L, A</a:t>
            </a:r>
          </a:p>
          <a:p>
            <a:r>
              <a:rPr lang="pt-BR" dirty="0"/>
              <a:t>MOV A, D</a:t>
            </a:r>
          </a:p>
          <a:p>
            <a:r>
              <a:rPr lang="pt-BR" dirty="0"/>
              <a:t>SBB H</a:t>
            </a:r>
          </a:p>
          <a:p>
            <a:r>
              <a:rPr lang="pt-BR" dirty="0"/>
              <a:t>MOV H, A</a:t>
            </a:r>
          </a:p>
          <a:p>
            <a:r>
              <a:rPr lang="pt-BR" dirty="0"/>
              <a:t>SHLD 4008</a:t>
            </a:r>
          </a:p>
          <a:p>
            <a:endParaRPr lang="pt-BR" dirty="0"/>
          </a:p>
          <a:p>
            <a:r>
              <a:rPr lang="pt-BR" dirty="0"/>
              <a:t>HLT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6068530"/>
      </p:ext>
    </p:extLst>
  </p:cSld>
  <p:clrMapOvr>
    <a:masterClrMapping/>
  </p:clrMapOvr>
</p:sld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5FCD3DBB8E51448A47CD924EED51C5C" ma:contentTypeVersion="4" ma:contentTypeDescription="Create a new document." ma:contentTypeScope="" ma:versionID="1057e678b922931c44ef15e1577fc5ac">
  <xsd:schema xmlns:xsd="http://www.w3.org/2001/XMLSchema" xmlns:xs="http://www.w3.org/2001/XMLSchema" xmlns:p="http://schemas.microsoft.com/office/2006/metadata/properties" xmlns:ns2="843a654d-0d01-42ca-8401-f048cd1c97a6" targetNamespace="http://schemas.microsoft.com/office/2006/metadata/properties" ma:root="true" ma:fieldsID="89b3b75c9da4e3a4b8228264bed043a1" ns2:_="">
    <xsd:import namespace="843a654d-0d01-42ca-8401-f048cd1c97a6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43a654d-0d01-42ca-8401-f048cd1c97a6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843a654d-0d01-42ca-8401-f048cd1c97a6" xsi:nil="true"/>
  </documentManagement>
</p:properties>
</file>

<file path=customXml/itemProps1.xml><?xml version="1.0" encoding="utf-8"?>
<ds:datastoreItem xmlns:ds="http://schemas.openxmlformats.org/officeDocument/2006/customXml" ds:itemID="{E16FB7AB-A6E5-4EA6-82DB-5BBB84E94ED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8D57606-248D-45DF-B7A2-7B5357D69FE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43a654d-0d01-42ca-8401-f048cd1c97a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5326727-3BE4-497C-ACF4-0E4DE1FA55F4}">
  <ds:schemaRefs>
    <ds:schemaRef ds:uri="http://schemas.microsoft.com/office/2006/metadata/properties"/>
    <ds:schemaRef ds:uri="http://schemas.microsoft.com/office/infopath/2007/PartnerControls"/>
    <ds:schemaRef ds:uri="843a654d-0d01-42ca-8401-f048cd1c97a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1563</TotalTime>
  <Words>418</Words>
  <Application>Microsoft Office PowerPoint</Application>
  <PresentationFormat>On-screen Show (16:9)</PresentationFormat>
  <Paragraphs>104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Abadi Extra Light</vt:lpstr>
      <vt:lpstr>Hanken Grotesk</vt:lpstr>
      <vt:lpstr>Cambria</vt:lpstr>
      <vt:lpstr>Wingdings</vt:lpstr>
      <vt:lpstr>Figtree Black</vt:lpstr>
      <vt:lpstr>Elegant Black &amp; White Thesis Defense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Yann Kimhuoy</dc:creator>
  <cp:lastModifiedBy>Vorng viseth</cp:lastModifiedBy>
  <cp:revision>22</cp:revision>
  <dcterms:modified xsi:type="dcterms:W3CDTF">2025-10-10T14:07:38Z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0x01010065FCD3DBB8E51448A47CD924EED51C5C</vt:lpwstr>
  </property>
</Properties>
</file>