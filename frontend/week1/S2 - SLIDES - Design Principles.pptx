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1" r:id="rId2"/>
    <p:sldId id="259" r:id="rId3"/>
    <p:sldId id="257" r:id="rId4"/>
    <p:sldId id="256" r:id="rId5"/>
    <p:sldId id="258" r:id="rId6"/>
    <p:sldId id="292" r:id="rId7"/>
    <p:sldId id="293" r:id="rId8"/>
    <p:sldId id="294" r:id="rId9"/>
    <p:sldId id="29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4376"/>
    <a:srgbClr val="C1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5AEF6-D25B-4F4E-AD1D-B72D51A7D770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8D54E-8629-4D49-9AA0-A6070300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07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1254D-68B1-453F-8EB2-1282B4541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FA45F-11E8-44EC-A550-EC723AF4F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696DD-4D54-4FF5-907B-E2F878A6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23EF-5BD5-45BD-8696-36211142BC7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4BC45-3D70-4126-A9A2-1F1CBA63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F51AE-1C30-49FF-9631-820A86FF1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9FF9-7B82-43E8-B8D1-7B124B8FE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9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85184-A695-4177-9ABE-563A2752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EADA0-4341-48EF-92C7-7535053BD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BA2C9-45B1-411A-AE94-5A91503EC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23EF-5BD5-45BD-8696-36211142BC7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3DCC4-0753-4470-A8FB-8B2C6F13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15D56-3E17-4248-B884-27A802834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9FF9-7B82-43E8-B8D1-7B124B8FE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68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69241-B23E-4351-BAA8-EDBF7916B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0DF4C-4D8F-4BCC-B097-F4E28D821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924CD-F876-46EF-B73F-657129432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23EF-5BD5-45BD-8696-36211142BC7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306DB-DA73-4541-83AC-E6E2E57C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A886B-A6BC-46D7-978C-834CC7B6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9FF9-7B82-43E8-B8D1-7B124B8FE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4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B41C8-9E45-4AA1-A0CC-B083D0E4E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2A5AD-FAEE-4F40-BF08-63C88A1134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E2E69F-6A27-47CD-A62E-F6FE56421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BC8E2-7CD8-4B6E-9E1E-799508DD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23EF-5BD5-45BD-8696-36211142BC7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58BC9-570E-4D0D-A81E-FB5F2F6AB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4E217-1206-46A8-BBEF-87B62411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9FF9-7B82-43E8-B8D1-7B124B8FE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827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3935-5657-428A-A353-EFAFBE8AC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6F66D-A227-4DE1-97D6-BB49A003E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EA338-10F4-4E28-89E3-5641F908C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F8ABD-6896-4F91-9FE1-4B9BBB7ED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06138A-8341-4EA6-8123-A4E4160FE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8616D1-09FF-446D-B255-867081489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23EF-5BD5-45BD-8696-36211142BC7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D3E018-A8F4-429E-BF63-300528C1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BEA35D-BD51-4B7C-BE63-31BB4634A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9FF9-7B82-43E8-B8D1-7B124B8FE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18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E4057-AF44-4C64-BB36-70E5EC410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0E5264-63C6-4EF0-8460-E1ED9C3A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23EF-5BD5-45BD-8696-36211142BC7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B9B106-6938-4981-B68B-E0C9A523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2F52E3-1EF4-4FAD-B596-1CAFA007F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9FF9-7B82-43E8-B8D1-7B124B8FE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0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C1D310-16EC-46AC-9539-3F20E9A57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23EF-5BD5-45BD-8696-36211142BC7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B2A7E0-D762-4B0C-A764-37F0D3F56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EDDA-B935-4874-8F18-F000603E1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9FF9-7B82-43E8-B8D1-7B124B8FE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57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6E3E9-45DC-4F4F-9108-9EE6846DE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9922E-3277-443C-A564-E197850B3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786BF-0681-4381-B5E5-A7084FEC8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A8821-16F8-49FF-AEE9-354200912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23EF-5BD5-45BD-8696-36211142BC7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E4000-682E-40E8-A353-D0D2111C4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53B55-538B-4D37-BC57-269567AB8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9FF9-7B82-43E8-B8D1-7B124B8FE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42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08066-F8BB-4653-A721-CDA44FA2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FADE1-6FB5-42B7-9C7E-922CA5F535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45F32-3DC7-4150-9008-09F194B32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87FDD-6E76-45F7-BBDC-4212BBBB8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23EF-5BD5-45BD-8696-36211142BC7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1D105-A0A2-4BD2-B82B-478C1D857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ED244-B11F-48FA-89CB-319B829E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9FF9-7B82-43E8-B8D1-7B124B8FE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9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FB0C9-5B4B-48B2-9FCC-EEFF484A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6B423-77CE-4949-B45E-77E3D7B85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6783B-7BED-49CD-8D29-A0CFE800E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23EF-5BD5-45BD-8696-36211142BC7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B0E97-98D7-4491-8E4B-7D44A6EFC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4E9AD-6904-4D50-81DB-35A31449C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9FF9-7B82-43E8-B8D1-7B124B8FE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26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485535-1D41-4684-B8AE-D95739BBA3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8FF51-6081-4AD5-9FF6-D26970383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6AA2A-0F9C-4DDB-9BDC-BC0881021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E23EF-5BD5-45BD-8696-36211142BC7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C1AC5-FE63-490D-9F13-C08B31CA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AEC5D-1B7A-4E39-AA28-D3C45B55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9FF9-7B82-43E8-B8D1-7B124B8FE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2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D73FED-7752-43CE-A4C7-16EABB2E8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15C95-D484-4AA8-B053-3383E82E5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51859-EFE8-4B2B-B490-4E21EE263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E23EF-5BD5-45BD-8696-36211142BC7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EE3AA-0C2D-4105-8927-2994CE09C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43D04-8A3C-435A-8E76-E074E1B38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A9FF9-7B82-43E8-B8D1-7B124B8FE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02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4376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4 CRAP Design Principles For A Better UX - Attention Insight">
            <a:extLst>
              <a:ext uri="{FF2B5EF4-FFF2-40B4-BE49-F238E27FC236}">
                <a16:creationId xmlns:a16="http://schemas.microsoft.com/office/drawing/2014/main" id="{D67CE7E3-F498-4F46-AE31-0943A33B6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" y="2849601"/>
            <a:ext cx="7116761" cy="4008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Google Shape;89;p1"/>
          <p:cNvSpPr txBox="1"/>
          <p:nvPr/>
        </p:nvSpPr>
        <p:spPr>
          <a:xfrm>
            <a:off x="4048920" y="437904"/>
            <a:ext cx="519565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600"/>
              <a:buFont typeface="Open Sans"/>
              <a:buNone/>
            </a:pPr>
            <a:r>
              <a:rPr lang="en-US" sz="6000" b="1" i="0" u="none" strike="noStrike" cap="none" dirty="0">
                <a:solidFill>
                  <a:schemeClr val="bg1">
                    <a:lumMod val="6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WEB DESIGN</a:t>
            </a:r>
            <a:endParaRPr lang="en-US" sz="800" b="0" i="0" u="none" strike="noStrike" cap="none" dirty="0">
              <a:solidFill>
                <a:schemeClr val="bg1">
                  <a:lumMod val="6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414030" y="1362279"/>
            <a:ext cx="1046543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Open Sans"/>
              <a:buNone/>
            </a:pPr>
            <a:r>
              <a:rPr lang="en-US" sz="40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W1-S2 –  Design Principles </a:t>
            </a:r>
            <a:endParaRPr sz="1200" b="0" i="1" u="none" strike="noStrike" cap="none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2" name="Google Shape;92;p1"/>
          <p:cNvCxnSpPr/>
          <p:nvPr/>
        </p:nvCxnSpPr>
        <p:spPr>
          <a:xfrm>
            <a:off x="2077357" y="1254014"/>
            <a:ext cx="96374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C7E9EEA-28A4-4556-A8D1-A55BD5DB0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7905" y="6059139"/>
            <a:ext cx="1156237" cy="6040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6FD4BA-426C-4FEF-B109-9210E50CC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229" y="1647980"/>
            <a:ext cx="2031727" cy="2390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56FCE0-D607-443A-B3FE-15401FAE8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372" y="1669708"/>
            <a:ext cx="1933944" cy="23250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E540BD-03A1-4F8D-9EE4-E224D8DAF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289" y="1647980"/>
            <a:ext cx="1944808" cy="23685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7B2912-C150-4732-8BCC-02D8D4046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2993" y="3918106"/>
            <a:ext cx="1955672" cy="23685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D4EE1B1-244B-47B9-8695-B475DF6F0E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6643" y="3939836"/>
            <a:ext cx="1977403" cy="23468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DD3F41-9FC4-4F6E-832F-37D92A64FB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1156" y="3971091"/>
            <a:ext cx="1999133" cy="232507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DA783E5-F1B3-4E71-97CB-3689F8886AB5}"/>
              </a:ext>
            </a:extLst>
          </p:cNvPr>
          <p:cNvSpPr txBox="1"/>
          <p:nvPr/>
        </p:nvSpPr>
        <p:spPr>
          <a:xfrm>
            <a:off x="2908386" y="258250"/>
            <a:ext cx="61702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6 Design principles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49987A-73AF-4338-9532-584A8CD73118}"/>
              </a:ext>
            </a:extLst>
          </p:cNvPr>
          <p:cNvSpPr txBox="1"/>
          <p:nvPr/>
        </p:nvSpPr>
        <p:spPr>
          <a:xfrm>
            <a:off x="1" y="0"/>
            <a:ext cx="1582056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EXPLAIN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F3FE324-DDC4-49BA-8169-FD6A4C28B692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1799" y="544033"/>
            <a:ext cx="464925" cy="4835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61915AF-DCB8-46A7-82D3-79E24AD9AF5E}"/>
              </a:ext>
            </a:extLst>
          </p:cNvPr>
          <p:cNvSpPr txBox="1"/>
          <p:nvPr/>
        </p:nvSpPr>
        <p:spPr>
          <a:xfrm>
            <a:off x="201095" y="1021180"/>
            <a:ext cx="646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20 MIN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631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A3753-40C7-4FE9-ACBD-5533CAC472F3}"/>
              </a:ext>
            </a:extLst>
          </p:cNvPr>
          <p:cNvSpPr/>
          <p:nvPr/>
        </p:nvSpPr>
        <p:spPr>
          <a:xfrm>
            <a:off x="994869" y="2308158"/>
            <a:ext cx="2993558" cy="386839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05760A-1BA7-4EAA-A1DD-303FB4AED4A7}"/>
              </a:ext>
            </a:extLst>
          </p:cNvPr>
          <p:cNvSpPr txBox="1"/>
          <p:nvPr/>
        </p:nvSpPr>
        <p:spPr>
          <a:xfrm>
            <a:off x="1194894" y="3705487"/>
            <a:ext cx="259350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LIBRARY</a:t>
            </a:r>
          </a:p>
          <a:p>
            <a:pPr algn="just"/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CLUB</a:t>
            </a:r>
          </a:p>
          <a:p>
            <a:pPr algn="just"/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WHY READING IS SO IMPORTANT ?</a:t>
            </a:r>
          </a:p>
          <a:p>
            <a:pPr algn="just"/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Reading and writing work in similar ways. Reading improves your writing style and flow. Writers learn to perfect their craft by taking inspiration from other writers. It’s impossible to be a good writer if you don’t read. Acclaimed author Stephen King is said to carry a book with him wherever he goes. He even reads while eating.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363354-99E7-498C-B766-5CD5890DA223}"/>
              </a:ext>
            </a:extLst>
          </p:cNvPr>
          <p:cNvSpPr/>
          <p:nvPr/>
        </p:nvSpPr>
        <p:spPr>
          <a:xfrm>
            <a:off x="4403104" y="2292315"/>
            <a:ext cx="2993558" cy="38683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28EFE5-CAEF-4E60-8375-38DBD87473D8}"/>
              </a:ext>
            </a:extLst>
          </p:cNvPr>
          <p:cNvSpPr txBox="1"/>
          <p:nvPr/>
        </p:nvSpPr>
        <p:spPr>
          <a:xfrm>
            <a:off x="4802782" y="3580181"/>
            <a:ext cx="2282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WHY READING IS SO IMPORTANT 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0E71B4-BB48-4B62-82B9-D04B8D28D702}"/>
              </a:ext>
            </a:extLst>
          </p:cNvPr>
          <p:cNvSpPr txBox="1"/>
          <p:nvPr/>
        </p:nvSpPr>
        <p:spPr>
          <a:xfrm>
            <a:off x="5310612" y="2844615"/>
            <a:ext cx="12716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AF41DF-0A15-4237-BE74-F44C41D83F3F}"/>
              </a:ext>
            </a:extLst>
          </p:cNvPr>
          <p:cNvSpPr txBox="1"/>
          <p:nvPr/>
        </p:nvSpPr>
        <p:spPr>
          <a:xfrm>
            <a:off x="4887477" y="4366461"/>
            <a:ext cx="2128166" cy="1715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dirty="0">
                <a:solidFill>
                  <a:schemeClr val="bg1"/>
                </a:solidFill>
              </a:rPr>
              <a:t>Reading and writing work </a:t>
            </a:r>
            <a:r>
              <a:rPr lang="en-US" sz="1050" dirty="0">
                <a:solidFill>
                  <a:schemeClr val="bg1"/>
                </a:solidFill>
              </a:rPr>
              <a:t>in similar ways. Reading improves your writing style and flow. Writers learn to perfect their craft by taking inspiration from other writers. It’s impossible to be a good writer if you don’t read. Acclaimed author Stephen King is said to carry a book with him wherever he goes. He even reads while eating.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7E6ABD-9E36-431B-A1AA-9C8C1C820CFF}"/>
              </a:ext>
            </a:extLst>
          </p:cNvPr>
          <p:cNvSpPr txBox="1"/>
          <p:nvPr/>
        </p:nvSpPr>
        <p:spPr>
          <a:xfrm>
            <a:off x="4802782" y="2328364"/>
            <a:ext cx="23276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LIBRARY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F9C633-5F4B-41BF-847A-E5F19740D794}"/>
              </a:ext>
            </a:extLst>
          </p:cNvPr>
          <p:cNvSpPr txBox="1"/>
          <p:nvPr/>
        </p:nvSpPr>
        <p:spPr>
          <a:xfrm>
            <a:off x="1550632" y="1223674"/>
            <a:ext cx="9724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Not related elements  are </a:t>
            </a:r>
            <a:r>
              <a:rPr lang="en-US" b="1" dirty="0"/>
              <a:t>graphically different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 visual must contain  </a:t>
            </a:r>
            <a:r>
              <a:rPr lang="en-US" b="1" dirty="0"/>
              <a:t>1 or many elements in contrast</a:t>
            </a:r>
            <a:r>
              <a:rPr lang="en-US" dirty="0"/>
              <a:t>, to guide the reader eyes into the page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1FD451-B0C2-4375-BBB1-6AC09A5D64BD}"/>
              </a:ext>
            </a:extLst>
          </p:cNvPr>
          <p:cNvSpPr txBox="1"/>
          <p:nvPr/>
        </p:nvSpPr>
        <p:spPr>
          <a:xfrm>
            <a:off x="7747083" y="2797546"/>
            <a:ext cx="42135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Q1 -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Does the design use 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enough contrast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 to differentiate elements?</a:t>
            </a:r>
          </a:p>
          <a:p>
            <a:pPr marL="457200"/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 </a:t>
            </a:r>
          </a:p>
          <a:p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Q2 -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Do the elements with high contrast stand out as 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intended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?</a:t>
            </a:r>
            <a:endParaRPr lang="en-US" sz="1600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8B9D4E-715C-4602-9F94-A52EE40A5AC6}"/>
              </a:ext>
            </a:extLst>
          </p:cNvPr>
          <p:cNvSpPr txBox="1"/>
          <p:nvPr/>
        </p:nvSpPr>
        <p:spPr>
          <a:xfrm>
            <a:off x="4589459" y="73240"/>
            <a:ext cx="28786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accent6"/>
                </a:solidFill>
              </a:rPr>
              <a:t>Contrast</a:t>
            </a: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1F6796D8-7AF4-4456-BA50-9078386217A4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8192531" y="3396588"/>
            <a:ext cx="936923" cy="2385717"/>
          </a:xfrm>
          <a:prstGeom prst="curvedConnector2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066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1F9C633-5F4B-41BF-847A-E5F19740D794}"/>
              </a:ext>
            </a:extLst>
          </p:cNvPr>
          <p:cNvSpPr txBox="1"/>
          <p:nvPr/>
        </p:nvSpPr>
        <p:spPr>
          <a:xfrm>
            <a:off x="2342219" y="1062513"/>
            <a:ext cx="96183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Alignment ensure elements are arranged in a visually appealing and logical way</a:t>
            </a:r>
            <a:r>
              <a:rPr lang="en-US" b="1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Nothing</a:t>
            </a:r>
            <a:r>
              <a:rPr lang="en-US" dirty="0"/>
              <a:t> should be placed on the page </a:t>
            </a:r>
            <a:r>
              <a:rPr lang="en-US" b="1" dirty="0"/>
              <a:t>arbitrarily !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An invisible line </a:t>
            </a:r>
            <a:r>
              <a:rPr lang="en-US" b="1" dirty="0"/>
              <a:t>connect aligned elements 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8B9D4E-715C-4602-9F94-A52EE40A5AC6}"/>
              </a:ext>
            </a:extLst>
          </p:cNvPr>
          <p:cNvSpPr txBox="1"/>
          <p:nvPr/>
        </p:nvSpPr>
        <p:spPr>
          <a:xfrm>
            <a:off x="4124567" y="122784"/>
            <a:ext cx="34941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accent6"/>
                </a:solidFill>
              </a:rPr>
              <a:t>Alignment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57688F-4B28-4E67-ADE6-7CC2FE1E2F50}"/>
              </a:ext>
            </a:extLst>
          </p:cNvPr>
          <p:cNvSpPr txBox="1"/>
          <p:nvPr/>
        </p:nvSpPr>
        <p:spPr>
          <a:xfrm>
            <a:off x="7076674" y="3313446"/>
            <a:ext cx="47724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Q1-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Are text, images, and other elements aligned properly to create order and cohesiveness?</a:t>
            </a:r>
          </a:p>
          <a:p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Q2 -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Are there any elements that 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feel "out of place"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?</a:t>
            </a:r>
          </a:p>
          <a:p>
            <a:endParaRPr lang="en-US" sz="1600" i="1" dirty="0"/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B4A55096-8235-4EC4-846A-59A2B57B885E}"/>
              </a:ext>
            </a:extLst>
          </p:cNvPr>
          <p:cNvCxnSpPr>
            <a:cxnSpLocks/>
            <a:stCxn id="29" idx="2"/>
          </p:cNvCxnSpPr>
          <p:nvPr/>
        </p:nvCxnSpPr>
        <p:spPr>
          <a:xfrm rot="5400000">
            <a:off x="7661851" y="3772771"/>
            <a:ext cx="936923" cy="2665151"/>
          </a:xfrm>
          <a:prstGeom prst="curvedConnector2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42E77ACF-2BD0-4F7E-8F95-9C56F542C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73" y="2937300"/>
            <a:ext cx="6253588" cy="2858187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C62FCB5-836B-49DE-AF37-6AC05DF2A522}"/>
              </a:ext>
            </a:extLst>
          </p:cNvPr>
          <p:cNvCxnSpPr>
            <a:cxnSpLocks/>
          </p:cNvCxnSpPr>
          <p:nvPr/>
        </p:nvCxnSpPr>
        <p:spPr>
          <a:xfrm>
            <a:off x="2485859" y="2749227"/>
            <a:ext cx="0" cy="397899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FB4D68E-3DAC-498C-A5CC-3EB049DC2F37}"/>
              </a:ext>
            </a:extLst>
          </p:cNvPr>
          <p:cNvCxnSpPr>
            <a:cxnSpLocks/>
          </p:cNvCxnSpPr>
          <p:nvPr/>
        </p:nvCxnSpPr>
        <p:spPr>
          <a:xfrm>
            <a:off x="2295359" y="2749227"/>
            <a:ext cx="0" cy="397899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51382AE-F874-4DD0-8CED-D2940C7EA518}"/>
              </a:ext>
            </a:extLst>
          </p:cNvPr>
          <p:cNvCxnSpPr>
            <a:cxnSpLocks/>
          </p:cNvCxnSpPr>
          <p:nvPr/>
        </p:nvCxnSpPr>
        <p:spPr>
          <a:xfrm>
            <a:off x="4073359" y="2749227"/>
            <a:ext cx="0" cy="397899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053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97346AD-07CC-4A4F-A3B2-01F657A7376A}"/>
              </a:ext>
            </a:extLst>
          </p:cNvPr>
          <p:cNvSpPr txBox="1"/>
          <p:nvPr/>
        </p:nvSpPr>
        <p:spPr>
          <a:xfrm>
            <a:off x="4124567" y="122784"/>
            <a:ext cx="32440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accent6"/>
                </a:solidFill>
              </a:rPr>
              <a:t>Proximity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F18D3F-0E4A-47AE-9C5C-C55D70FA768C}"/>
              </a:ext>
            </a:extLst>
          </p:cNvPr>
          <p:cNvSpPr txBox="1"/>
          <p:nvPr/>
        </p:nvSpPr>
        <p:spPr>
          <a:xfrm>
            <a:off x="3000375" y="1076301"/>
            <a:ext cx="6191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Proximity refers to the </a:t>
            </a:r>
            <a:r>
              <a:rPr lang="en-US" b="1" dirty="0"/>
              <a:t>closeness of related elements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Things that are </a:t>
            </a:r>
            <a:r>
              <a:rPr lang="en-US" b="1" dirty="0"/>
              <a:t>related</a:t>
            </a:r>
            <a:r>
              <a:rPr lang="en-US" dirty="0"/>
              <a:t> should be close to </a:t>
            </a:r>
            <a:r>
              <a:rPr lang="en-US" b="1" dirty="0"/>
              <a:t>each other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D93AF0-A7D4-44CC-8740-D975D2AAB318}"/>
              </a:ext>
            </a:extLst>
          </p:cNvPr>
          <p:cNvSpPr txBox="1"/>
          <p:nvPr/>
        </p:nvSpPr>
        <p:spPr>
          <a:xfrm>
            <a:off x="7238026" y="2928009"/>
            <a:ext cx="4213533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Q1-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Are headlines, body text, and images that belong together placed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near each other?</a:t>
            </a:r>
          </a:p>
          <a:p>
            <a:pPr marL="457200"/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Q2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- Are elements spaced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too far apart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or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too close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together?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endParaRPr lang="en-US" sz="1600" i="1" dirty="0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769E1C82-394F-4985-9144-B6950CF2B2F2}"/>
              </a:ext>
            </a:extLst>
          </p:cNvPr>
          <p:cNvCxnSpPr>
            <a:cxnSpLocks/>
            <a:stCxn id="10" idx="2"/>
          </p:cNvCxnSpPr>
          <p:nvPr/>
        </p:nvCxnSpPr>
        <p:spPr>
          <a:xfrm rot="5400000">
            <a:off x="7945454" y="3942190"/>
            <a:ext cx="412972" cy="2385707"/>
          </a:xfrm>
          <a:prstGeom prst="curvedConnector2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E6E581B1-FBD4-465A-B6F4-66F02EB3D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32" y="2190750"/>
            <a:ext cx="6686154" cy="374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56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97346AD-07CC-4A4F-A3B2-01F657A7376A}"/>
              </a:ext>
            </a:extLst>
          </p:cNvPr>
          <p:cNvSpPr txBox="1"/>
          <p:nvPr/>
        </p:nvSpPr>
        <p:spPr>
          <a:xfrm>
            <a:off x="4124567" y="122784"/>
            <a:ext cx="37012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accent6"/>
                </a:solidFill>
              </a:rPr>
              <a:t>Repetition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6BC06B-1ED5-4094-A8EF-45D4BF83F3AA}"/>
              </a:ext>
            </a:extLst>
          </p:cNvPr>
          <p:cNvSpPr txBox="1"/>
          <p:nvPr/>
        </p:nvSpPr>
        <p:spPr>
          <a:xfrm>
            <a:off x="7668324" y="2777520"/>
            <a:ext cx="42135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Q1-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 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Are </a:t>
            </a:r>
            <a:r>
              <a:rPr lang="en-US" sz="16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colors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en-US" sz="16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fonts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, or </a:t>
            </a:r>
            <a:r>
              <a:rPr lang="en-US" sz="16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shapes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 used consistently 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across the design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?</a:t>
            </a:r>
          </a:p>
          <a:p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Q2 -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Does the repetition feel intentional and effective?</a:t>
            </a:r>
          </a:p>
          <a:p>
            <a:endParaRPr lang="en-US" sz="1600" i="1" dirty="0"/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69B4192C-36F3-4D40-8F4B-976F6F3C9656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8236886" y="3499677"/>
            <a:ext cx="690703" cy="2385708"/>
          </a:xfrm>
          <a:prstGeom prst="curvedConnector2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3FB060A-0EE8-4E12-B02E-1066FBD11373}"/>
              </a:ext>
            </a:extLst>
          </p:cNvPr>
          <p:cNvSpPr txBox="1"/>
          <p:nvPr/>
        </p:nvSpPr>
        <p:spPr>
          <a:xfrm>
            <a:off x="2600013" y="1138447"/>
            <a:ext cx="79292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/>
              <a:t>Repeat the style of some elements to </a:t>
            </a:r>
            <a:r>
              <a:rPr lang="en-US" sz="1800" b="1" dirty="0">
                <a:solidFill>
                  <a:schemeClr val="accent6"/>
                </a:solidFill>
              </a:rPr>
              <a:t>unify</a:t>
            </a:r>
            <a:r>
              <a:rPr lang="en-US" sz="1800" dirty="0"/>
              <a:t>  and  </a:t>
            </a:r>
            <a:r>
              <a:rPr lang="en-US" sz="1800" b="1" dirty="0">
                <a:solidFill>
                  <a:schemeClr val="accent6"/>
                </a:solidFill>
              </a:rPr>
              <a:t>link</a:t>
            </a:r>
            <a:r>
              <a:rPr lang="en-US" sz="1800" dirty="0"/>
              <a:t> them together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/>
              <a:t>It can be applied to elements : fonts, colors, shapes, or layouts 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/>
              <a:t>Repetition makes a design more cohesive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DA10A1-B9AF-4A5D-98C9-9920B79A3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073" y="2527285"/>
            <a:ext cx="3461061" cy="36449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A1F72B-1A37-4937-AB74-8A8C057C3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21" y="2527285"/>
            <a:ext cx="3256702" cy="239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9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97346AD-07CC-4A4F-A3B2-01F657A7376A}"/>
              </a:ext>
            </a:extLst>
          </p:cNvPr>
          <p:cNvSpPr txBox="1"/>
          <p:nvPr/>
        </p:nvSpPr>
        <p:spPr>
          <a:xfrm>
            <a:off x="4751721" y="184666"/>
            <a:ext cx="26885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accent6"/>
                </a:solidFill>
              </a:rPr>
              <a:t>Balance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6625F2-06D2-4939-95BD-8E836B592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75" y="2704495"/>
            <a:ext cx="6567896" cy="34425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E12779-3BBD-45B8-AF9F-CFA866902272}"/>
              </a:ext>
            </a:extLst>
          </p:cNvPr>
          <p:cNvSpPr txBox="1"/>
          <p:nvPr/>
        </p:nvSpPr>
        <p:spPr>
          <a:xfrm>
            <a:off x="7639749" y="3237895"/>
            <a:ext cx="42135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Q1-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 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Is the design the same on both sides or does one side have more weight than the other?</a:t>
            </a:r>
          </a:p>
          <a:p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Q2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-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Does the design feel even and comfortable to look at, or does it feel lopsided and uneven?</a:t>
            </a:r>
          </a:p>
          <a:p>
            <a:endParaRPr lang="en-US" sz="1600" i="1" dirty="0"/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ECCD9F36-FF79-44AD-8807-B2CC30B7ABC4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8208313" y="3960054"/>
            <a:ext cx="690703" cy="2385704"/>
          </a:xfrm>
          <a:prstGeom prst="curvedConnector2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0D3644-C503-4C7E-B81E-5C13AE24FCE8}"/>
              </a:ext>
            </a:extLst>
          </p:cNvPr>
          <p:cNvSpPr txBox="1"/>
          <p:nvPr/>
        </p:nvSpPr>
        <p:spPr>
          <a:xfrm>
            <a:off x="1795165" y="1200329"/>
            <a:ext cx="104778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/>
              <a:t>Balance refers to the </a:t>
            </a:r>
            <a:r>
              <a:rPr lang="en-US" sz="1800" b="1" dirty="0"/>
              <a:t>distribution of visual weight</a:t>
            </a:r>
            <a:r>
              <a:rPr lang="en-US" sz="1800" dirty="0"/>
              <a:t> in a design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/>
              <a:t>It can be symmetrical or asymmetrical (</a:t>
            </a:r>
            <a:r>
              <a:rPr lang="en-US" sz="1800" i="1" dirty="0"/>
              <a:t>more dynamic but still visually balanced</a:t>
            </a:r>
            <a:r>
              <a:rPr lang="en-US" sz="1800" dirty="0"/>
              <a:t>)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/>
              <a:t>Proper balance ensures a sense of </a:t>
            </a:r>
            <a:r>
              <a:rPr lang="en-US" sz="1800" b="1" dirty="0"/>
              <a:t>stability</a:t>
            </a:r>
            <a:r>
              <a:rPr lang="en-US" sz="1800" dirty="0"/>
              <a:t> and </a:t>
            </a:r>
            <a:r>
              <a:rPr lang="en-US" sz="1800" b="1" dirty="0"/>
              <a:t>harmony</a:t>
            </a:r>
            <a:r>
              <a:rPr lang="en-US" sz="1800" dirty="0"/>
              <a:t> in the design</a:t>
            </a:r>
          </a:p>
        </p:txBody>
      </p:sp>
    </p:spTree>
    <p:extLst>
      <p:ext uri="{BB962C8B-B14F-4D97-AF65-F5344CB8AC3E}">
        <p14:creationId xmlns:p14="http://schemas.microsoft.com/office/powerpoint/2010/main" val="1485136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DC96F3-29BB-4031-9465-920592DC9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927" y="2308225"/>
            <a:ext cx="2616400" cy="417194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7346AD-07CC-4A4F-A3B2-01F657A7376A}"/>
              </a:ext>
            </a:extLst>
          </p:cNvPr>
          <p:cNvSpPr txBox="1"/>
          <p:nvPr/>
        </p:nvSpPr>
        <p:spPr>
          <a:xfrm>
            <a:off x="4124567" y="122784"/>
            <a:ext cx="41715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accent6"/>
                </a:solidFill>
              </a:rPr>
              <a:t>White Space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9C927F-AB1F-402D-BCF3-A0A37D1CF0BA}"/>
              </a:ext>
            </a:extLst>
          </p:cNvPr>
          <p:cNvSpPr txBox="1"/>
          <p:nvPr/>
        </p:nvSpPr>
        <p:spPr>
          <a:xfrm>
            <a:off x="6879265" y="2952145"/>
            <a:ext cx="42135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Q1-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 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Does the design have enough white space to avoid overcrowding, or does it feel empty?</a:t>
            </a:r>
          </a:p>
          <a:p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Q2 -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DaunPenh" panose="01010101010101010101" pitchFamily="2" charset="0"/>
              </a:rPr>
              <a:t>Is the white space used to guide the viewer’s eye effectively?</a:t>
            </a:r>
          </a:p>
          <a:p>
            <a:endParaRPr lang="en-US" sz="1600" i="1" dirty="0"/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2D7CCB6C-52DA-4469-B43C-3254157663F4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7447828" y="3674303"/>
            <a:ext cx="690703" cy="2385706"/>
          </a:xfrm>
          <a:prstGeom prst="curvedConnector2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EF5C9B-5691-4D94-8DD1-AF5758158970}"/>
              </a:ext>
            </a:extLst>
          </p:cNvPr>
          <p:cNvSpPr txBox="1"/>
          <p:nvPr/>
        </p:nvSpPr>
        <p:spPr>
          <a:xfrm>
            <a:off x="1525149" y="1085164"/>
            <a:ext cx="104206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/>
              <a:t>White space is the empty area between design elements.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It makes it easier for the users to understand the </a:t>
            </a: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content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and the </a:t>
            </a: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relationships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between the elements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20186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8990F9-EB4D-428F-B39E-781419E42C6F}"/>
              </a:ext>
            </a:extLst>
          </p:cNvPr>
          <p:cNvSpPr txBox="1"/>
          <p:nvPr/>
        </p:nvSpPr>
        <p:spPr>
          <a:xfrm>
            <a:off x="0" y="0"/>
            <a:ext cx="172577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GROUP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477E98-27FA-4039-8965-A01B0DE001D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1799" y="544033"/>
            <a:ext cx="464925" cy="4835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ECE8AF-9AA6-47E7-8C98-45E9B49120CE}"/>
              </a:ext>
            </a:extLst>
          </p:cNvPr>
          <p:cNvSpPr txBox="1"/>
          <p:nvPr/>
        </p:nvSpPr>
        <p:spPr>
          <a:xfrm>
            <a:off x="201095" y="1021180"/>
            <a:ext cx="646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70 MIN</a:t>
            </a:r>
            <a:endParaRPr lang="en-US" sz="12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83944E-75EC-439D-AA6F-315422FC239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5967" y="499352"/>
            <a:ext cx="265019" cy="527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D4AE6B-F66F-4BC7-A3AF-C378A91AEF4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75210" y="494089"/>
            <a:ext cx="265019" cy="5270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5AD397-D2B9-4A21-A9CE-63D982042D7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63780" y="494089"/>
            <a:ext cx="265019" cy="52709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750061-AA91-490C-9BA3-638A07B8A4F6}"/>
              </a:ext>
            </a:extLst>
          </p:cNvPr>
          <p:cNvCxnSpPr/>
          <p:nvPr/>
        </p:nvCxnSpPr>
        <p:spPr>
          <a:xfrm flipV="1">
            <a:off x="3525827" y="2222499"/>
            <a:ext cx="0" cy="352213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B77399-8D01-4BD7-9E4F-28E14D0F7E1E}"/>
              </a:ext>
            </a:extLst>
          </p:cNvPr>
          <p:cNvCxnSpPr/>
          <p:nvPr/>
        </p:nvCxnSpPr>
        <p:spPr>
          <a:xfrm flipV="1">
            <a:off x="7361227" y="2129367"/>
            <a:ext cx="0" cy="362373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D6F282B6-37A4-4975-8EBF-5DD582031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522" y="3054348"/>
            <a:ext cx="3037980" cy="26987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77E29A6-9EF8-4E6D-A977-BB0405BF2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236" y="3147980"/>
            <a:ext cx="1633846" cy="191968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6D8A79B-E243-44FE-B709-0CB19B5CC581}"/>
              </a:ext>
            </a:extLst>
          </p:cNvPr>
          <p:cNvSpPr txBox="1"/>
          <p:nvPr/>
        </p:nvSpPr>
        <p:spPr>
          <a:xfrm>
            <a:off x="162962" y="2222499"/>
            <a:ext cx="3386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1-  </a:t>
            </a:r>
            <a:r>
              <a:rPr lang="en-US" b="1" dirty="0"/>
              <a:t>Analyze</a:t>
            </a:r>
            <a:r>
              <a:rPr lang="en-US" dirty="0"/>
              <a:t> 3 graphic designs regarding the principles we leant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25C0F4-19BB-4F98-9FCD-999C72602FB4}"/>
              </a:ext>
            </a:extLst>
          </p:cNvPr>
          <p:cNvSpPr txBox="1"/>
          <p:nvPr/>
        </p:nvSpPr>
        <p:spPr>
          <a:xfrm>
            <a:off x="3750110" y="2192866"/>
            <a:ext cx="3386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2-  </a:t>
            </a:r>
            <a:r>
              <a:rPr lang="en-US" b="1" dirty="0"/>
              <a:t>Complete the </a:t>
            </a:r>
            <a:r>
              <a:rPr lang="en-US" dirty="0"/>
              <a:t> evaluation sheet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1CAF27-48B6-4553-88C6-97BD3C74C907}"/>
              </a:ext>
            </a:extLst>
          </p:cNvPr>
          <p:cNvSpPr txBox="1"/>
          <p:nvPr/>
        </p:nvSpPr>
        <p:spPr>
          <a:xfrm>
            <a:off x="7709915" y="2205565"/>
            <a:ext cx="3386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3-  </a:t>
            </a:r>
            <a:r>
              <a:rPr lang="en-US" b="1" dirty="0"/>
              <a:t>Presentation</a:t>
            </a:r>
            <a:r>
              <a:rPr lang="en-US" dirty="0"/>
              <a:t> to the class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020791-C274-42CB-96AD-28F8AB0260AB}"/>
              </a:ext>
            </a:extLst>
          </p:cNvPr>
          <p:cNvSpPr txBox="1"/>
          <p:nvPr/>
        </p:nvSpPr>
        <p:spPr>
          <a:xfrm>
            <a:off x="7709915" y="3147980"/>
            <a:ext cx="44405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Your </a:t>
            </a:r>
            <a:r>
              <a:rPr lang="en-US" b="1" dirty="0"/>
              <a:t>graphical analysis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Your </a:t>
            </a:r>
            <a:r>
              <a:rPr lang="en-US" b="1" dirty="0"/>
              <a:t>proposition of improvements </a:t>
            </a:r>
            <a:r>
              <a:rPr lang="en-US" i="1" dirty="0"/>
              <a:t>(if any)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34EE04-27E7-466A-8FE8-CB87D335AECD}"/>
              </a:ext>
            </a:extLst>
          </p:cNvPr>
          <p:cNvSpPr txBox="1"/>
          <p:nvPr/>
        </p:nvSpPr>
        <p:spPr>
          <a:xfrm>
            <a:off x="4692090" y="319670"/>
            <a:ext cx="27547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Group </a:t>
            </a:r>
            <a:r>
              <a:rPr lang="en-US" sz="4000" b="1" dirty="0"/>
              <a:t>Work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58BE31-49A0-4326-BBCA-68AAEE5CB813}"/>
              </a:ext>
            </a:extLst>
          </p:cNvPr>
          <p:cNvSpPr txBox="1"/>
          <p:nvPr/>
        </p:nvSpPr>
        <p:spPr>
          <a:xfrm>
            <a:off x="4400868" y="1044047"/>
            <a:ext cx="3457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See instruction in the document</a:t>
            </a:r>
          </a:p>
        </p:txBody>
      </p:sp>
    </p:spTree>
    <p:extLst>
      <p:ext uri="{BB962C8B-B14F-4D97-AF65-F5344CB8AC3E}">
        <p14:creationId xmlns:p14="http://schemas.microsoft.com/office/powerpoint/2010/main" val="650740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92F1EF6D3FD242AF23838DCF5972B6" ma:contentTypeVersion="0" ma:contentTypeDescription="Create a new document." ma:contentTypeScope="" ma:versionID="1ac67d4c50a64fe178db7da187a0c00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F9F93E-4E3D-4900-A379-DBA436C15170}"/>
</file>

<file path=customXml/itemProps2.xml><?xml version="1.0" encoding="utf-8"?>
<ds:datastoreItem xmlns:ds="http://schemas.openxmlformats.org/officeDocument/2006/customXml" ds:itemID="{11002975-D77A-4A22-894A-DB33EA38621B}"/>
</file>

<file path=customXml/itemProps3.xml><?xml version="1.0" encoding="utf-8"?>
<ds:datastoreItem xmlns:ds="http://schemas.openxmlformats.org/officeDocument/2006/customXml" ds:itemID="{548CA63E-AE31-4016-95DA-6F9762DE228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</Words>
  <Application>Microsoft Office PowerPoint</Application>
  <PresentationFormat>Widescreen</PresentationFormat>
  <Paragraphs>62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Google Sans</vt:lpstr>
      <vt:lpstr>Open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Ronan Ogor</cp:lastModifiedBy>
  <cp:revision>1</cp:revision>
  <dcterms:created xsi:type="dcterms:W3CDTF">2024-09-27T02:21:04Z</dcterms:created>
  <dcterms:modified xsi:type="dcterms:W3CDTF">2024-09-27T02:21:17Z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0x010100A292F1EF6D3FD242AF23838DCF5972B6</vt:lpwstr>
  </property>
  <property fmtid="{D5CDD505-2E9C-101B-9397-08002B2CF9AE}" pid="3" name="Order">
    <vt:r8>2800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